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CD59EDE3-473D-4D43-A3F3-A9A8AF8F112C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ABDD22DF-BA2A-43DD-B9DF-3BC811E98D3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84868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D22DF-BA2A-43DD-B9DF-3BC811E98D3B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8301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A7CF8-1CBC-9B52-AC41-8CEFBE471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A656DC7A-537E-8282-5FC1-588F7FFD7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F8B27A6D-6F9E-F050-2813-256DE23BB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25F27DD4-3307-2A97-ABBC-58F27F066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D22DF-BA2A-43DD-B9DF-3BC811E98D3B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69169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064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40218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6386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26551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5658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178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9673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506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93679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תמונה פנורמית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44392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ו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6310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ציטוט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9402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725676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 עם ציטו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16173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נכון או לא נכו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10069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9078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451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B6BE512-AF76-4A96-889A-A30B7C3B7F31}" type="datetimeFigureOut">
              <a:rPr lang="he-IL" smtClean="0"/>
              <a:t>ט"ז/תמוז/תשפ"ו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3733F84-8503-46D5-92B6-8814215FDD3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2402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1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2857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r" defTabSz="457200" rtl="1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F2DBDBF-0910-6964-DE0A-EF08E0B3DD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Web Computational Graph</a:t>
            </a:r>
            <a:endParaRPr lang="he-IL" b="1" dirty="0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6A689D68-2795-2F74-61D0-813EB3F5A6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800" b="1" dirty="0"/>
              <a:t>Advanced Programming (83677)</a:t>
            </a:r>
          </a:p>
          <a:p>
            <a:r>
              <a:rPr lang="en-US" dirty="0"/>
              <a:t>Ziv Chaba (326681285)</a:t>
            </a:r>
          </a:p>
        </p:txBody>
      </p:sp>
    </p:spTree>
    <p:extLst>
      <p:ext uri="{BB962C8B-B14F-4D97-AF65-F5344CB8AC3E}">
        <p14:creationId xmlns:p14="http://schemas.microsoft.com/office/powerpoint/2010/main" val="4105676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1D9ED94-78B0-A89D-045D-02BB42178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3EDD0AF-47EA-B9D6-9535-1121173FF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This project involves building a modular system that uses design patterns, Java Servlets, and a publisher/subscriber architecture to construct, execute, and visualize complex computational graphs. </a:t>
            </a:r>
          </a:p>
          <a:p>
            <a:pPr algn="l" rtl="0"/>
            <a:r>
              <a:rPr lang="en-US" dirty="0"/>
              <a:t>It progresses from foundational exercises into a fully integrated server-side application that processes data and displays the resulting calculations.</a:t>
            </a:r>
          </a:p>
          <a:p>
            <a:pPr algn="l" rtl="0"/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871810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CE25D1A-ED88-8CD9-2E9A-0699F1C15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Design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A11B85C-38CF-A17D-7645-754795A15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algn="l" rtl="0"/>
            <a:r>
              <a:rPr lang="en-US" b="1" dirty="0"/>
              <a:t>The project is </a:t>
            </a:r>
            <a:r>
              <a:rPr lang="he-IL" b="1" dirty="0" err="1"/>
              <a:t>divide</a:t>
            </a:r>
            <a:r>
              <a:rPr lang="en-US" b="1" dirty="0"/>
              <a:t>d</a:t>
            </a:r>
            <a:r>
              <a:rPr lang="he-IL" b="1" dirty="0"/>
              <a:t> </a:t>
            </a:r>
            <a:r>
              <a:rPr lang="he-IL" b="1" dirty="0" err="1"/>
              <a:t>into</a:t>
            </a:r>
            <a:r>
              <a:rPr lang="he-IL" b="1" dirty="0"/>
              <a:t> </a:t>
            </a:r>
            <a:r>
              <a:rPr lang="he-IL" b="1" dirty="0" err="1"/>
              <a:t>the</a:t>
            </a:r>
            <a:r>
              <a:rPr lang="he-IL" b="1" dirty="0"/>
              <a:t> </a:t>
            </a:r>
            <a:r>
              <a:rPr lang="he-IL" b="1" dirty="0" err="1"/>
              <a:t>Model-View-Controller</a:t>
            </a:r>
            <a:r>
              <a:rPr lang="he-IL" b="1" dirty="0"/>
              <a:t> (MVC) </a:t>
            </a:r>
            <a:r>
              <a:rPr lang="he-IL" b="1" dirty="0" err="1"/>
              <a:t>architecture</a:t>
            </a:r>
            <a:r>
              <a:rPr lang="he-IL" b="1" dirty="0"/>
              <a:t>:</a:t>
            </a:r>
            <a:endParaRPr lang="en-US" dirty="0"/>
          </a:p>
          <a:p>
            <a:pPr marL="0" indent="0" algn="l" rtl="0">
              <a:buNone/>
            </a:pPr>
            <a:r>
              <a:rPr lang="he-IL" sz="3300" b="1" dirty="0"/>
              <a:t>   </a:t>
            </a:r>
            <a:r>
              <a:rPr lang="he-IL" sz="3300" b="1" dirty="0" err="1"/>
              <a:t>Model</a:t>
            </a:r>
            <a:endParaRPr lang="en-US" b="1" dirty="0"/>
          </a:p>
          <a:p>
            <a:pPr algn="l" rtl="0"/>
            <a:r>
              <a:rPr lang="en-US" b="1" dirty="0"/>
              <a:t>Core Event-Driven State: </a:t>
            </a:r>
            <a:r>
              <a:rPr lang="en-US" dirty="0"/>
              <a:t>Manages communication channels (Topic), the global directory registry (</a:t>
            </a:r>
            <a:r>
              <a:rPr lang="en-US" dirty="0" err="1"/>
              <a:t>TopicManagerSingleton</a:t>
            </a:r>
            <a:r>
              <a:rPr lang="en-US" dirty="0"/>
              <a:t>), and the immutable payload container (Message).</a:t>
            </a:r>
          </a:p>
          <a:p>
            <a:pPr algn="l" rtl="0"/>
            <a:r>
              <a:rPr lang="en-US" b="1" dirty="0"/>
              <a:t>Processing Agents: </a:t>
            </a:r>
            <a:r>
              <a:rPr lang="en-US" dirty="0"/>
              <a:t>Implements the Agent interface and its subclasses (</a:t>
            </a:r>
            <a:r>
              <a:rPr lang="en-US" dirty="0" err="1"/>
              <a:t>BinOpAgent</a:t>
            </a:r>
            <a:r>
              <a:rPr lang="en-US" dirty="0"/>
              <a:t>, </a:t>
            </a:r>
            <a:r>
              <a:rPr lang="en-US" dirty="0" err="1"/>
              <a:t>PlusAgent</a:t>
            </a:r>
            <a:r>
              <a:rPr lang="en-US" dirty="0"/>
              <a:t>, </a:t>
            </a:r>
            <a:r>
              <a:rPr lang="en-US" dirty="0" err="1"/>
              <a:t>MulAgent</a:t>
            </a:r>
            <a:r>
              <a:rPr lang="en-US" dirty="0"/>
              <a:t>, </a:t>
            </a:r>
            <a:r>
              <a:rPr lang="en-US" dirty="0" err="1"/>
              <a:t>IncAgent</a:t>
            </a:r>
            <a:r>
              <a:rPr lang="en-US" dirty="0"/>
              <a:t>, </a:t>
            </a:r>
            <a:r>
              <a:rPr lang="en-US" dirty="0" err="1"/>
              <a:t>TextMergeAgent</a:t>
            </a:r>
            <a:r>
              <a:rPr lang="en-US" dirty="0"/>
              <a:t>) to execute calculations in the background.</a:t>
            </a:r>
          </a:p>
          <a:p>
            <a:pPr algn="l" rtl="0"/>
            <a:r>
              <a:rPr lang="en-US" b="1" dirty="0"/>
              <a:t>Structural Topology: </a:t>
            </a:r>
            <a:r>
              <a:rPr lang="en-US" dirty="0"/>
              <a:t>Represents and validates the processing network using the Graph and Node classes, checking for cycle deadlocks before execution.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933313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DBEB5-2B00-531F-7AC5-2F2F4667C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5B3E07-8D79-3913-A2EC-44CA68309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Design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11E161C-8FB3-A8E4-CD02-AF49CC0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 rtl="0"/>
            <a:r>
              <a:rPr lang="en-US" b="1" dirty="0"/>
              <a:t>The project is </a:t>
            </a:r>
            <a:r>
              <a:rPr lang="he-IL" b="1" dirty="0" err="1"/>
              <a:t>divide</a:t>
            </a:r>
            <a:r>
              <a:rPr lang="en-US" b="1" dirty="0"/>
              <a:t>d</a:t>
            </a:r>
            <a:r>
              <a:rPr lang="he-IL" b="1" dirty="0"/>
              <a:t> </a:t>
            </a:r>
            <a:r>
              <a:rPr lang="he-IL" b="1" dirty="0" err="1"/>
              <a:t>into</a:t>
            </a:r>
            <a:r>
              <a:rPr lang="he-IL" b="1" dirty="0"/>
              <a:t> </a:t>
            </a:r>
            <a:r>
              <a:rPr lang="he-IL" b="1" dirty="0" err="1"/>
              <a:t>the</a:t>
            </a:r>
            <a:r>
              <a:rPr lang="he-IL" b="1" dirty="0"/>
              <a:t> </a:t>
            </a:r>
            <a:r>
              <a:rPr lang="he-IL" b="1" dirty="0" err="1"/>
              <a:t>Model-View-Controller</a:t>
            </a:r>
            <a:r>
              <a:rPr lang="he-IL" b="1" dirty="0"/>
              <a:t> (MVC) </a:t>
            </a:r>
            <a:r>
              <a:rPr lang="he-IL" b="1" dirty="0" err="1"/>
              <a:t>architecture</a:t>
            </a:r>
            <a:r>
              <a:rPr lang="he-IL" b="1" dirty="0"/>
              <a:t>:</a:t>
            </a:r>
            <a:endParaRPr lang="en-US" dirty="0"/>
          </a:p>
          <a:p>
            <a:pPr marL="0" indent="0" algn="l" rtl="0">
              <a:buNone/>
            </a:pPr>
            <a:r>
              <a:rPr lang="he-IL" sz="3300" b="1" dirty="0"/>
              <a:t>   </a:t>
            </a:r>
            <a:r>
              <a:rPr lang="en-US" sz="3300" b="1" dirty="0"/>
              <a:t>View</a:t>
            </a:r>
            <a:endParaRPr lang="en-US" b="1" dirty="0"/>
          </a:p>
          <a:p>
            <a:pPr algn="l" rtl="0"/>
            <a:r>
              <a:rPr lang="en-US" b="1" dirty="0"/>
              <a:t>Graphical Renderer: </a:t>
            </a:r>
            <a:r>
              <a:rPr lang="en-US" dirty="0"/>
              <a:t>Compiles logical graphs into HTML files using </a:t>
            </a:r>
            <a:r>
              <a:rPr lang="en-US" dirty="0" err="1"/>
              <a:t>HtmlGraphWriter</a:t>
            </a:r>
            <a:r>
              <a:rPr lang="en-US" dirty="0"/>
              <a:t> to translate topologic states into a visual canvas.</a:t>
            </a:r>
          </a:p>
          <a:p>
            <a:pPr algn="l" rtl="0"/>
            <a:r>
              <a:rPr lang="en-US" b="1" dirty="0"/>
              <a:t>Interactive Web Dashboard: </a:t>
            </a:r>
            <a:r>
              <a:rPr lang="en-US" dirty="0"/>
              <a:t>Comprises the </a:t>
            </a:r>
            <a:r>
              <a:rPr lang="en-US" dirty="0" err="1"/>
              <a:t>html_files</a:t>
            </a:r>
            <a:r>
              <a:rPr lang="en-US" dirty="0"/>
              <a:t>/ directory (index.html, form.html, graph.html). It renders the graph visually using Vis.js, displays live topic annotations, and automatically reconstructs the underlying algebraic formula being computed.</a:t>
            </a:r>
          </a:p>
        </p:txBody>
      </p:sp>
    </p:spTree>
    <p:extLst>
      <p:ext uri="{BB962C8B-B14F-4D97-AF65-F5344CB8AC3E}">
        <p14:creationId xmlns:p14="http://schemas.microsoft.com/office/powerpoint/2010/main" val="2448971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1B9F9-7C8E-BEBA-079C-67F3036A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085A019-5375-B7EE-6AA2-D175FCA71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Design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A48BB1C-3941-F80E-1B71-94713078A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l" rtl="0"/>
            <a:r>
              <a:rPr lang="en-US" sz="1800" b="1" dirty="0"/>
              <a:t>The project is </a:t>
            </a:r>
            <a:r>
              <a:rPr lang="he-IL" sz="1800" b="1" dirty="0" err="1"/>
              <a:t>divide</a:t>
            </a:r>
            <a:r>
              <a:rPr lang="en-US" sz="1800" b="1" dirty="0"/>
              <a:t>d</a:t>
            </a:r>
            <a:r>
              <a:rPr lang="he-IL" sz="1800" b="1" dirty="0"/>
              <a:t> </a:t>
            </a:r>
            <a:r>
              <a:rPr lang="he-IL" sz="1800" b="1" dirty="0" err="1"/>
              <a:t>into</a:t>
            </a:r>
            <a:r>
              <a:rPr lang="he-IL" sz="1800" b="1" dirty="0"/>
              <a:t> </a:t>
            </a:r>
            <a:r>
              <a:rPr lang="he-IL" sz="1800" b="1" dirty="0" err="1"/>
              <a:t>the</a:t>
            </a:r>
            <a:r>
              <a:rPr lang="he-IL" sz="1800" b="1" dirty="0"/>
              <a:t> </a:t>
            </a:r>
            <a:r>
              <a:rPr lang="he-IL" sz="1800" b="1" dirty="0" err="1"/>
              <a:t>Model-View-Controller</a:t>
            </a:r>
            <a:r>
              <a:rPr lang="he-IL" sz="1800" b="1" dirty="0"/>
              <a:t> (MVC) </a:t>
            </a:r>
            <a:r>
              <a:rPr lang="he-IL" sz="1800" b="1" dirty="0" err="1"/>
              <a:t>architecture</a:t>
            </a:r>
            <a:r>
              <a:rPr lang="he-IL" sz="1800" b="1" dirty="0"/>
              <a:t>:</a:t>
            </a:r>
            <a:endParaRPr lang="en-US" sz="1800" dirty="0"/>
          </a:p>
          <a:p>
            <a:pPr marL="0" indent="0" algn="l" rtl="0">
              <a:buNone/>
            </a:pPr>
            <a:r>
              <a:rPr lang="he-IL" b="1" dirty="0"/>
              <a:t>   </a:t>
            </a:r>
            <a:r>
              <a:rPr lang="en-US" b="1" dirty="0"/>
              <a:t>Controller</a:t>
            </a:r>
            <a:endParaRPr lang="en-US" sz="1800" b="1" dirty="0"/>
          </a:p>
          <a:p>
            <a:pPr algn="l" rtl="0"/>
            <a:r>
              <a:rPr lang="en-US" sz="1800" b="1" dirty="0"/>
              <a:t>HTTP Network Server: </a:t>
            </a:r>
            <a:r>
              <a:rPr lang="en-US" sz="1800" dirty="0"/>
              <a:t>Built around a concurrent, thread-pool-backed server (</a:t>
            </a:r>
            <a:r>
              <a:rPr lang="en-US" sz="1800" dirty="0" err="1"/>
              <a:t>MyHTTPServer</a:t>
            </a:r>
            <a:r>
              <a:rPr lang="en-US" sz="1800" dirty="0"/>
              <a:t>) and a stream decoder (</a:t>
            </a:r>
            <a:r>
              <a:rPr lang="en-US" sz="1800" dirty="0" err="1"/>
              <a:t>RequestParser</a:t>
            </a:r>
            <a:r>
              <a:rPr lang="en-US" sz="1800" dirty="0"/>
              <a:t>) that parses requests into structured </a:t>
            </a:r>
            <a:r>
              <a:rPr lang="en-US" sz="1800" dirty="0" err="1"/>
              <a:t>RequestInfo</a:t>
            </a:r>
            <a:r>
              <a:rPr lang="en-US" sz="1800" dirty="0"/>
              <a:t> objects.</a:t>
            </a:r>
          </a:p>
          <a:p>
            <a:pPr algn="l" rtl="0"/>
            <a:r>
              <a:rPr lang="en-US" sz="1800" b="1" dirty="0"/>
              <a:t>Servlet Routing Handlers:</a:t>
            </a:r>
            <a:r>
              <a:rPr lang="en-US" sz="1800" dirty="0"/>
              <a:t> Decouples network sessions from routing, delegating client actions using longest-prefix matching to custom controllers:</a:t>
            </a:r>
          </a:p>
          <a:p>
            <a:pPr lvl="1" algn="l" rtl="0"/>
            <a:r>
              <a:rPr lang="en-US" sz="1600" dirty="0" err="1"/>
              <a:t>ConfLoader</a:t>
            </a:r>
            <a:r>
              <a:rPr lang="en-US" sz="1600" dirty="0"/>
              <a:t>: Manages uploading, parsing, bootstrapping, and unloading configurations.</a:t>
            </a:r>
          </a:p>
          <a:p>
            <a:pPr lvl="1" algn="l" rtl="0"/>
            <a:r>
              <a:rPr lang="en-US" sz="1600" dirty="0" err="1"/>
              <a:t>TopicDisplayer</a:t>
            </a:r>
            <a:r>
              <a:rPr lang="en-US" sz="1600" dirty="0"/>
              <a:t>: Exposes the JSON API endpoints, handles resets, and supports zero-flicker client-side polling.</a:t>
            </a:r>
          </a:p>
          <a:p>
            <a:pPr lvl="1" algn="l" rtl="0"/>
            <a:r>
              <a:rPr lang="en-US" sz="1600" dirty="0" err="1"/>
              <a:t>HtmlLoader</a:t>
            </a:r>
            <a:r>
              <a:rPr lang="en-US" sz="1600" dirty="0"/>
              <a:t>: Serves static view assets securely from disk.</a:t>
            </a:r>
          </a:p>
        </p:txBody>
      </p:sp>
    </p:spTree>
    <p:extLst>
      <p:ext uri="{BB962C8B-B14F-4D97-AF65-F5344CB8AC3E}">
        <p14:creationId xmlns:p14="http://schemas.microsoft.com/office/powerpoint/2010/main" val="1126349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תמונה 4">
            <a:extLst>
              <a:ext uri="{FF2B5EF4-FFF2-40B4-BE49-F238E27FC236}">
                <a16:creationId xmlns:a16="http://schemas.microsoft.com/office/drawing/2014/main" id="{4DC3B76C-5D4E-6674-4E51-69458078A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169" y="649867"/>
            <a:ext cx="4027513" cy="5558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058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DAC61-959C-F229-D24D-508310D1D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E42A89F-847D-04F0-A281-D2BCCD23B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C352553-BBE5-6145-1540-AE253EFC0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 rtl="0"/>
            <a:r>
              <a:rPr lang="en-US" b="1" dirty="0" err="1"/>
              <a:t>TextMergeAgent</a:t>
            </a:r>
            <a:r>
              <a:rPr lang="en-US" b="1" dirty="0"/>
              <a:t> Integration: </a:t>
            </a:r>
            <a:r>
              <a:rPr lang="en-US" dirty="0"/>
              <a:t>A concrete, non-mathematical agent that merges mixed text and numbers.</a:t>
            </a:r>
          </a:p>
          <a:p>
            <a:pPr algn="l" rtl="0"/>
            <a:r>
              <a:rPr lang="en-US" b="1" dirty="0"/>
              <a:t>Live Formula Reconstruction: </a:t>
            </a:r>
            <a:r>
              <a:rPr lang="en-US" dirty="0"/>
              <a:t>Browser graph automatically traverses active nodes to reconstruct the algebraic equation.</a:t>
            </a:r>
          </a:p>
          <a:p>
            <a:pPr algn="l" rtl="0"/>
            <a:r>
              <a:rPr lang="en-US" b="1" dirty="0"/>
              <a:t>Zero-Flicker Web Polling: </a:t>
            </a:r>
            <a:r>
              <a:rPr lang="en-US" dirty="0"/>
              <a:t>Client-side DOM-diffing polling script updates only modified cells to prevent screen flicker.</a:t>
            </a:r>
          </a:p>
          <a:p>
            <a:pPr algn="l" rtl="0"/>
            <a:r>
              <a:rPr lang="en-US" b="1" dirty="0"/>
              <a:t>Cascading Resets &amp; Safe Rollbacks: </a:t>
            </a:r>
            <a:r>
              <a:rPr lang="en-US" dirty="0"/>
              <a:t>Unified state resets and robust rollback safeguards on invalid configurations.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9849448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295D942-42F3-3ED1-1C2E-307CE3BC5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CA131A8D-B2CD-A08E-161F-80B0F0698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l" rtl="0"/>
            <a:r>
              <a:rPr lang="en-US" b="1" dirty="0"/>
              <a:t>Design &amp; Architecture: </a:t>
            </a:r>
            <a:r>
              <a:rPr lang="en-US" dirty="0"/>
              <a:t>Gained deep understanding of SOLID and GRASP principles, alongside MVC and MVVM patterns, to build maintainable applications.</a:t>
            </a:r>
          </a:p>
          <a:p>
            <a:pPr algn="l" rtl="0"/>
            <a:r>
              <a:rPr lang="en-US" b="1" dirty="0"/>
              <a:t>Coding Proficiency: </a:t>
            </a:r>
            <a:r>
              <a:rPr lang="en-US" dirty="0"/>
              <a:t>Strengthened Java development skills, focusing on data structures, file handling, and network communication.</a:t>
            </a:r>
          </a:p>
          <a:p>
            <a:pPr algn="l" rtl="0"/>
            <a:r>
              <a:rPr lang="en-US" b="1" dirty="0"/>
              <a:t>Web &amp; Scalability: </a:t>
            </a:r>
            <a:r>
              <a:rPr lang="en-US" dirty="0"/>
              <a:t>Gained practical experience in building robust, scalable RESTful services.</a:t>
            </a:r>
          </a:p>
          <a:p>
            <a:pPr algn="l" rtl="0"/>
            <a:r>
              <a:rPr lang="en-US" b="1" dirty="0"/>
              <a:t>Career Readiness: </a:t>
            </a:r>
            <a:r>
              <a:rPr lang="en-US" dirty="0"/>
              <a:t>Acquired a versatile skill set for future professional software development.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429947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C0E2B495-4C0C-C7CE-EA86-3DD1AA17104E}"/>
              </a:ext>
            </a:extLst>
          </p:cNvPr>
          <p:cNvSpPr txBox="1"/>
          <p:nvPr/>
        </p:nvSpPr>
        <p:spPr>
          <a:xfrm>
            <a:off x="3037892" y="3013501"/>
            <a:ext cx="61162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b="1" dirty="0"/>
              <a:t>Thank you</a:t>
            </a:r>
            <a:endParaRPr lang="he-IL" sz="4800" b="1" dirty="0"/>
          </a:p>
        </p:txBody>
      </p:sp>
    </p:spTree>
    <p:extLst>
      <p:ext uri="{BB962C8B-B14F-4D97-AF65-F5344CB8AC3E}">
        <p14:creationId xmlns:p14="http://schemas.microsoft.com/office/powerpoint/2010/main" val="1883782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ורגני">
  <a:themeElements>
    <a:clrScheme name="אורגני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אורגני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אורגני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145</TotalTime>
  <Words>495</Words>
  <Application>Microsoft Office PowerPoint</Application>
  <PresentationFormat>מסך רחב</PresentationFormat>
  <Paragraphs>38</Paragraphs>
  <Slides>9</Slides>
  <Notes>2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9</vt:i4>
      </vt:variant>
    </vt:vector>
  </HeadingPairs>
  <TitlesOfParts>
    <vt:vector size="13" baseType="lpstr">
      <vt:lpstr>Arial</vt:lpstr>
      <vt:lpstr>Calibri</vt:lpstr>
      <vt:lpstr>Garamond</vt:lpstr>
      <vt:lpstr>אורגני</vt:lpstr>
      <vt:lpstr>Web Computational Graph</vt:lpstr>
      <vt:lpstr>Motivation</vt:lpstr>
      <vt:lpstr>Project Design</vt:lpstr>
      <vt:lpstr>Project Design</vt:lpstr>
      <vt:lpstr>Project Design</vt:lpstr>
      <vt:lpstr>מצגת של PowerPoint‏</vt:lpstr>
      <vt:lpstr>Beyond</vt:lpstr>
      <vt:lpstr>Takeaways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Ziv Chaba</dc:creator>
  <cp:lastModifiedBy>Ziv Chaba</cp:lastModifiedBy>
  <cp:revision>10</cp:revision>
  <dcterms:created xsi:type="dcterms:W3CDTF">2026-07-01T19:35:37Z</dcterms:created>
  <dcterms:modified xsi:type="dcterms:W3CDTF">2026-07-01T22:00:41Z</dcterms:modified>
</cp:coreProperties>
</file>